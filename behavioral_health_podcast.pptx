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217920" y="-548640"/>
            <a:ext cx="3840480" cy="3840480"/>
          </a:xfrm>
          <a:prstGeom prst="ellipse">
            <a:avLst/>
          </a:prstGeom>
          <a:solidFill>
            <a:srgbClr val="6C4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2926080"/>
            <a:ext cx="2743200" cy="2743200"/>
          </a:xfrm>
          <a:prstGeom prst="ellipse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0" i="0">
                <a:solidFill>
                  <a:srgbClr val="FFFFFF"/>
                </a:solidFill>
                <a:latin typeface="Trebuchet MS"/>
              </a:rPr>
              <a:t>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7B731"/>
                </a:solidFill>
                <a:latin typeface="Trebuchet MS"/>
              </a:rPr>
              <a:t>WHAT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13232"/>
            <a:ext cx="8229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Trebuchet MS"/>
              </a:rPr>
              <a:t>Behavioral Health?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8A8FA8"/>
                </a:solidFill>
                <a:latin typeface="Trebuchet MS"/>
              </a:rPr>
              <a:t>A fun crash course for your public health brain 🎙️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2743200"/>
            <a:ext cx="2194560" cy="384048"/>
          </a:xfrm>
          <a:prstGeom prst="rect">
            <a:avLst/>
          </a:prstGeom>
          <a:solidFill>
            <a:srgbClr val="6C4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74320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Trebuchet MS"/>
              </a:rPr>
              <a:t>Behavioral Health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2743200"/>
            <a:ext cx="2194560" cy="384048"/>
          </a:xfrm>
          <a:prstGeom prst="rect">
            <a:avLst/>
          </a:prstGeom>
          <a:solidFill>
            <a:srgbClr val="6C4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274320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Trebuchet MS"/>
              </a:rPr>
              <a:t>Neuroscience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2743200"/>
            <a:ext cx="2194560" cy="384048"/>
          </a:xfrm>
          <a:prstGeom prst="rect">
            <a:avLst/>
          </a:prstGeom>
          <a:solidFill>
            <a:srgbClr val="6C4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0" y="274320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Trebuchet MS"/>
              </a:rPr>
              <a:t>Brain Science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8FA8"/>
                </a:solidFill>
                <a:latin typeface="Trebuchet MS"/>
              </a:rPr>
              <a:t>Module 1 · Lessons 1 &amp;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05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8412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F05A5B"/>
                </a:solidFill>
                <a:latin typeface="Trebuchet MS"/>
              </a:rPr>
              <a:t>THE BIG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8412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1B2A4A"/>
                </a:solidFill>
                <a:latin typeface="Trebuchet MS"/>
              </a:rPr>
              <a:t>Why do you do what you do?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2633472" cy="2103120"/>
          </a:xfrm>
          <a:prstGeom prst="rect">
            <a:avLst/>
          </a:prstGeom>
          <a:solidFill>
            <a:srgbClr val="F4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664208"/>
            <a:ext cx="2633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Trebuchet MS"/>
              </a:rPr>
              <a:t>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86000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2A4A"/>
                </a:solidFill>
                <a:latin typeface="Trebuchet MS"/>
              </a:rPr>
              <a:t>Check your phone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651760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8FA8"/>
                </a:solidFill>
                <a:latin typeface="Trebuchet MS"/>
              </a:rPr>
              <a:t>first thing every morning?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600200"/>
            <a:ext cx="2633472" cy="2103120"/>
          </a:xfrm>
          <a:prstGeom prst="rect">
            <a:avLst/>
          </a:prstGeom>
          <a:solidFill>
            <a:srgbClr val="F4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1664208"/>
            <a:ext cx="2633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Trebuchet MS"/>
              </a:rPr>
              <a:t>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286000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2A4A"/>
                </a:solidFill>
                <a:latin typeface="Trebuchet MS"/>
              </a:rPr>
              <a:t>Snack when bored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651760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8FA8"/>
                </a:solidFill>
                <a:latin typeface="Trebuchet MS"/>
              </a:rPr>
              <a:t>even when not hungry?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600200"/>
            <a:ext cx="2633472" cy="2103120"/>
          </a:xfrm>
          <a:prstGeom prst="rect">
            <a:avLst/>
          </a:prstGeom>
          <a:solidFill>
            <a:srgbClr val="F4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1664208"/>
            <a:ext cx="2633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Trebuchet MS"/>
              </a:rPr>
              <a:t>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2286000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2A4A"/>
                </a:solidFill>
                <a:latin typeface="Trebuchet MS"/>
              </a:rPr>
              <a:t>Skip your workout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651760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8FA8"/>
                </a:solidFill>
                <a:latin typeface="Trebuchet MS"/>
              </a:rPr>
              <a:t>when you feel tired?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913632"/>
            <a:ext cx="8412480" cy="5943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913632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rebuchet MS"/>
              </a:rPr>
              <a:t>These are ALL behavioral health moments. Let's break them down. 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6C4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Trebuchet MS"/>
              </a:rPr>
              <a:t>SO WHAT EXACTLY IS BEHAVIORAL HEALTH?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1B2A4A"/>
                </a:solidFill>
                <a:latin typeface="Trebuchet MS"/>
              </a:rPr>
              <a:t>"The connection between your daily behaviors, habits,
thoughts &amp; emotions — and your overall health."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011680"/>
            <a:ext cx="8412480" cy="548640"/>
          </a:xfrm>
          <a:prstGeom prst="rect">
            <a:avLst/>
          </a:prstGeom>
          <a:solidFill>
            <a:srgbClr val="F4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Trebuchet MS"/>
              </a:rPr>
              <a:t>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011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6C4FD4"/>
                </a:solidFill>
                <a:latin typeface="Trebuchet MS"/>
              </a:rPr>
              <a:t>Mental health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0116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B2A4A"/>
                </a:solidFill>
                <a:latin typeface="Trebuchet MS"/>
              </a:rPr>
              <a:t>Depression, anxiety, bipolar, PTSD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633472"/>
            <a:ext cx="84124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3347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Trebuchet MS"/>
              </a:rPr>
              <a:t>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63347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6C4FD4"/>
                </a:solidFill>
                <a:latin typeface="Trebuchet MS"/>
              </a:rPr>
              <a:t>Substance 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633472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B2A4A"/>
                </a:solidFill>
                <a:latin typeface="Trebuchet MS"/>
              </a:rPr>
              <a:t>Alcohol, opioids, cannabis, stimulants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255264"/>
            <a:ext cx="8412480" cy="548640"/>
          </a:xfrm>
          <a:prstGeom prst="rect">
            <a:avLst/>
          </a:prstGeom>
          <a:solidFill>
            <a:srgbClr val="F4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255264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Trebuchet MS"/>
              </a:rPr>
              <a:t>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255264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6C4FD4"/>
                </a:solidFill>
                <a:latin typeface="Trebuchet MS"/>
              </a:rPr>
              <a:t>Health behaviors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255264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B2A4A"/>
                </a:solidFill>
                <a:latin typeface="Trebuchet MS"/>
              </a:rPr>
              <a:t>Sleep, diet, exercise, stress management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877056"/>
            <a:ext cx="84124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877056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Trebuchet MS"/>
              </a:rPr>
              <a:t>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877056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6C4FD4"/>
                </a:solidFill>
                <a:latin typeface="Trebuchet MS"/>
              </a:rPr>
              <a:t>Mind-body link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3877056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B2A4A"/>
                </a:solidFill>
                <a:latin typeface="Trebuchet MS"/>
              </a:rPr>
              <a:t>How emotions cause physical illness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Trebuchet MS"/>
              </a:rPr>
              <a:t>⚡ Behavior drives ~40% of premature deaths — it's the biggest lever we have.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8412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8A8FA8"/>
                </a:solidFill>
                <a:latin typeface="Trebuchet MS"/>
              </a:rPr>
              <a:t>BEHAVIORAL HEALTH  vs.  MENTAL HEALTH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B2A4A"/>
                </a:solidFill>
                <a:latin typeface="Trebuchet MS"/>
              </a:rPr>
              <a:t>What's the real difference?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3931920" cy="3429000"/>
          </a:xfrm>
          <a:prstGeom prst="rect">
            <a:avLst/>
          </a:prstGeom>
          <a:solidFill>
            <a:srgbClr val="6C4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89888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Trebuchet MS"/>
              </a:rPr>
              <a:t>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65960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7B731"/>
                </a:solidFill>
                <a:latin typeface="Trebuchet MS"/>
              </a:rPr>
              <a:t>BEHAVIORAL HEALTH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33172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Trebuchet MS"/>
              </a:rPr>
              <a:t>The BIG umbrella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7004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FFFFFF"/>
                </a:solidFill>
                <a:latin typeface="Trebuchet MS"/>
              </a:rPr>
              <a:t>✓  Mental health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632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FFFFFF"/>
                </a:solidFill>
                <a:latin typeface="Trebuchet MS"/>
              </a:rPr>
              <a:t>✓  Substance 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56432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FFFFFF"/>
                </a:solidFill>
                <a:latin typeface="Trebuchet MS"/>
              </a:rPr>
              <a:t>✓  Sleep &amp; diet habits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849624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FFFFFF"/>
                </a:solidFill>
                <a:latin typeface="Trebuchet MS"/>
              </a:rPr>
              <a:t>✓  Stress &amp; coping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42816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FFFFFF"/>
                </a:solidFill>
                <a:latin typeface="Trebuchet MS"/>
              </a:rPr>
              <a:t>✓  Medication adherence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1325880"/>
            <a:ext cx="3931920" cy="3429000"/>
          </a:xfrm>
          <a:prstGeom prst="rect">
            <a:avLst/>
          </a:prstGeom>
          <a:solidFill>
            <a:srgbClr val="F4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1389888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B2A4A"/>
                </a:solidFill>
                <a:latin typeface="Trebuchet MS"/>
              </a:rPr>
              <a:t>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1965960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6C4FD4"/>
                </a:solidFill>
                <a:latin typeface="Trebuchet MS"/>
              </a:rPr>
              <a:t>MENTAL HEALTH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233172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A8FA8"/>
                </a:solidFill>
                <a:latin typeface="Trebuchet MS"/>
              </a:rPr>
              <a:t>A subset inside BH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67004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1B2A4A"/>
                </a:solidFill>
                <a:latin typeface="Trebuchet MS"/>
              </a:rPr>
              <a:t>→  Depression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0632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1B2A4A"/>
                </a:solidFill>
                <a:latin typeface="Trebuchet MS"/>
              </a:rPr>
              <a:t>→  Anxiety disorders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456432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1B2A4A"/>
                </a:solidFill>
                <a:latin typeface="Trebuchet MS"/>
              </a:rPr>
              <a:t>→  Bipolar disorder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3849624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1B2A4A"/>
                </a:solidFill>
                <a:latin typeface="Trebuchet MS"/>
              </a:rPr>
              <a:t>→  PTSD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4242816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1B2A4A"/>
                </a:solidFill>
                <a:latin typeface="Trebuchet MS"/>
              </a:rPr>
              <a:t>→  Schizophrenia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05A5B"/>
                </a:solidFill>
                <a:latin typeface="Trebuchet MS"/>
              </a:rPr>
              <a:t>👉  Every mental health issue IS a behavioral health issue — but not vice versa!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0" y="-457200"/>
            <a:ext cx="3657600" cy="3657600"/>
          </a:xfrm>
          <a:prstGeom prst="ellipse">
            <a:avLst/>
          </a:prstGeom>
          <a:solidFill>
            <a:srgbClr val="6C4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7B731"/>
                </a:solidFill>
                <a:latin typeface="Trebuchet MS"/>
              </a:rPr>
              <a:t>THE CORE FORMULA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Trebuchet MS"/>
              </a:rPr>
              <a:t>What shapes your behavioral health?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53312"/>
            <a:ext cx="2578608" cy="2331720"/>
          </a:xfrm>
          <a:prstGeom prst="rect">
            <a:avLst/>
          </a:prstGeom>
          <a:solidFill>
            <a:srgbClr val="503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417320"/>
            <a:ext cx="25786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Trebuchet MS"/>
              </a:rPr>
              <a:t>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965960"/>
            <a:ext cx="25786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7B731"/>
                </a:solidFill>
                <a:latin typeface="Trebuchet MS"/>
              </a:rPr>
              <a:t>YOUR BRAIN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359152"/>
            <a:ext cx="257860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Trebuchet MS"/>
              </a:rPr>
              <a:t>Biology &amp; neuroscience
Genes, chemistry, wiring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98648" y="1737360"/>
            <a:ext cx="274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7B731"/>
                </a:solidFill>
                <a:latin typeface="Trebuchet MS"/>
              </a:rPr>
              <a:t>+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1353312"/>
            <a:ext cx="2578608" cy="2331720"/>
          </a:xfrm>
          <a:prstGeom prst="rect">
            <a:avLst/>
          </a:prstGeom>
          <a:solidFill>
            <a:srgbClr val="503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0" y="1417320"/>
            <a:ext cx="25786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Trebuchet MS"/>
              </a:rPr>
              <a:t>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1965960"/>
            <a:ext cx="25786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7B731"/>
                </a:solidFill>
                <a:latin typeface="Trebuchet MS"/>
              </a:rPr>
              <a:t>YOUR ENVIRONMENT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359152"/>
            <a:ext cx="257860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Trebuchet MS"/>
              </a:rPr>
              <a:t>Social &amp; situational
Family, stress, culture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33288" y="1737360"/>
            <a:ext cx="274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7B731"/>
                </a:solidFill>
                <a:latin typeface="Trebuchet MS"/>
              </a:rPr>
              <a:t>+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1353312"/>
            <a:ext cx="2578608" cy="2331720"/>
          </a:xfrm>
          <a:prstGeom prst="rect">
            <a:avLst/>
          </a:prstGeom>
          <a:solidFill>
            <a:srgbClr val="503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1417320"/>
            <a:ext cx="25786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Trebuchet MS"/>
              </a:rPr>
              <a:t>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1965960"/>
            <a:ext cx="25786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7B731"/>
                </a:solidFill>
                <a:latin typeface="Trebuchet MS"/>
              </a:rPr>
              <a:t>YOUR HABITS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359152"/>
            <a:ext cx="257860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Trebuchet MS"/>
              </a:rPr>
              <a:t>Repeated behaviors
Automatic daily loops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0" y="3840480"/>
            <a:ext cx="6400800" cy="804672"/>
          </a:xfrm>
          <a:prstGeom prst="rect">
            <a:avLst/>
          </a:prstGeom>
          <a:solidFill>
            <a:srgbClr val="F05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3840480"/>
            <a:ext cx="64008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Trebuchet MS"/>
              </a:rPr>
              <a:t>=  YOUR BEHAVIORAL HEALTH  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8412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0B4A6"/>
                </a:solidFill>
                <a:latin typeface="Trebuchet MS"/>
              </a:rPr>
              <a:t>THE AUTOPILOT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B2A4A"/>
                </a:solidFill>
                <a:latin typeface="Trebuchet MS"/>
              </a:rPr>
              <a:t>40–45% of your day runs on automatic habits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8412480" cy="594360"/>
          </a:xfrm>
          <a:prstGeom prst="rect">
            <a:avLst/>
          </a:prstGeom>
          <a:solidFill>
            <a:srgbClr val="F4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2588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C4FD4"/>
                </a:solidFill>
                <a:latin typeface="Trebuchet MS"/>
              </a:rPr>
              <a:t>😰 Emotion  →  🔁 Automatic behavior  →  😌 Short-term relief  →  🔗 Loop reinforced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057400"/>
            <a:ext cx="8412480" cy="566928"/>
          </a:xfrm>
          <a:prstGeom prst="rect">
            <a:avLst/>
          </a:prstGeom>
          <a:solidFill>
            <a:srgbClr val="F4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1737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05A5B"/>
                </a:solidFill>
                <a:latin typeface="Trebuchet MS"/>
              </a:rPr>
              <a:t>😟 Anxiety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2057400"/>
            <a:ext cx="2194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6C4FD4"/>
                </a:solidFill>
                <a:latin typeface="Trebuchet MS"/>
              </a:rPr>
              <a:t>→  Check phone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057400"/>
            <a:ext cx="4114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8A8FA8"/>
                </a:solidFill>
                <a:latin typeface="Trebuchet MS"/>
              </a:rPr>
              <a:t>floods brain with info before day starts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715768"/>
            <a:ext cx="84124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715768"/>
            <a:ext cx="1737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05A5B"/>
                </a:solidFill>
                <a:latin typeface="Trebuchet MS"/>
              </a:rPr>
              <a:t>😩 Boredom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715768"/>
            <a:ext cx="2194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6C4FD4"/>
                </a:solidFill>
                <a:latin typeface="Trebuchet MS"/>
              </a:rPr>
              <a:t>→  Snack on junk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715768"/>
            <a:ext cx="4114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8A8FA8"/>
                </a:solidFill>
                <a:latin typeface="Trebuchet MS"/>
              </a:rPr>
              <a:t>eating used to regulate emotion, not hunger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374136"/>
            <a:ext cx="8412480" cy="566928"/>
          </a:xfrm>
          <a:prstGeom prst="rect">
            <a:avLst/>
          </a:prstGeom>
          <a:solidFill>
            <a:srgbClr val="F4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374136"/>
            <a:ext cx="1737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05A5B"/>
                </a:solidFill>
                <a:latin typeface="Trebuchet MS"/>
              </a:rPr>
              <a:t>😵 Overwhelm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3374136"/>
            <a:ext cx="2194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6C4FD4"/>
                </a:solidFill>
                <a:latin typeface="Trebuchet MS"/>
              </a:rPr>
              <a:t>→  Skip exercise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3374136"/>
            <a:ext cx="4114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8A8FA8"/>
                </a:solidFill>
                <a:latin typeface="Trebuchet MS"/>
              </a:rPr>
              <a:t>avoidance of exercise increases fatigue over time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032504"/>
            <a:ext cx="84124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032504"/>
            <a:ext cx="1737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05A5B"/>
                </a:solidFill>
                <a:latin typeface="Trebuchet MS"/>
              </a:rPr>
              <a:t>😤 Stress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4032504"/>
            <a:ext cx="2194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6C4FD4"/>
                </a:solidFill>
                <a:latin typeface="Trebuchet MS"/>
              </a:rPr>
              <a:t>→  Smoke/drink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4032504"/>
            <a:ext cx="4114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8A8FA8"/>
                </a:solidFill>
                <a:latin typeface="Trebuchet MS"/>
              </a:rPr>
              <a:t>substance gives short relief, deepens the problem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663440"/>
            <a:ext cx="8412480" cy="2926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4663440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Trebuchet MS"/>
              </a:rPr>
              <a:t>This loop is the engine of most behavioral health problems — and the target of most interventions.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05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Trebuchet MS"/>
              </a:rPr>
              <a:t>REAL STORY: Meet Maria 👩  —  Chronic Insomnia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3931920" cy="804672"/>
          </a:xfrm>
          <a:prstGeom prst="rect">
            <a:avLst/>
          </a:prstGeom>
          <a:solidFill>
            <a:srgbClr val="FF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05A5B"/>
                </a:solidFill>
                <a:latin typeface="Trebuchet MS"/>
              </a:rPr>
              <a:t>💊  Old 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1B2A4A"/>
                </a:solidFill>
                <a:latin typeface="Trebuchet MS"/>
              </a:rPr>
              <a:t>Prescribe sleep meds. Symptom treated.
Root cause? Still there.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051560"/>
            <a:ext cx="3931920" cy="804672"/>
          </a:xfrm>
          <a:prstGeom prst="rect">
            <a:avLst/>
          </a:prstGeom>
          <a:solidFill>
            <a:srgbClr val="E8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109728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B4A6"/>
                </a:solidFill>
                <a:latin typeface="Trebuchet MS"/>
              </a:rPr>
              <a:t>✅  BH 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417320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1B2A4A"/>
                </a:solidFill>
                <a:latin typeface="Trebuchet MS"/>
              </a:rPr>
              <a:t>Find &amp; fix the behaviors driving
the insomnia. No meds needed.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993392"/>
            <a:ext cx="8412480" cy="548640"/>
          </a:xfrm>
          <a:prstGeom prst="rect">
            <a:avLst/>
          </a:prstGeom>
          <a:solidFill>
            <a:srgbClr val="F4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993392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1B2A4A"/>
                </a:solidFill>
                <a:latin typeface="Trebuchet MS"/>
              </a:rPr>
              <a:t>📱  Late-night scrolling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993392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B4A6"/>
                </a:solidFill>
                <a:latin typeface="Trebuchet MS"/>
              </a:rPr>
              <a:t>→  Phone-free bedroom · screen off by 10pm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615184"/>
            <a:ext cx="84124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15184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1B2A4A"/>
                </a:solidFill>
                <a:latin typeface="Trebuchet MS"/>
              </a:rPr>
              <a:t>☕  Coffee at 4pm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615184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B4A6"/>
                </a:solidFill>
                <a:latin typeface="Trebuchet MS"/>
              </a:rPr>
              <a:t>→  No caffeine after 1pm (half-life is 5–6 hrs!)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236976"/>
            <a:ext cx="8412480" cy="548640"/>
          </a:xfrm>
          <a:prstGeom prst="rect">
            <a:avLst/>
          </a:prstGeom>
          <a:solidFill>
            <a:srgbClr val="F4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236976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1B2A4A"/>
                </a:solidFill>
                <a:latin typeface="Trebuchet MS"/>
              </a:rPr>
              <a:t>😰  Bedtime anxiety spiral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3236976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B4A6"/>
                </a:solidFill>
                <a:latin typeface="Trebuchet MS"/>
              </a:rPr>
              <a:t>→  Structured worry journal at 7pm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858768"/>
            <a:ext cx="84124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858768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1B2A4A"/>
                </a:solidFill>
                <a:latin typeface="Trebuchet MS"/>
              </a:rPr>
              <a:t>🌡️  Warm, bright room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3858768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B4A6"/>
                </a:solidFill>
                <a:latin typeface="Trebuchet MS"/>
              </a:rPr>
              <a:t>→  65°F + blackout curtains + bed = sleep only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626864"/>
            <a:ext cx="8412480" cy="329184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4626864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Trebuchet MS"/>
              </a:rPr>
              <a:t>Result: 6 weeks of CBT-I → sleeping great. Zero medication. This is behavioral health in action. 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69280" y="182880"/>
            <a:ext cx="4114800" cy="4114800"/>
          </a:xfrm>
          <a:prstGeom prst="ellipse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F7B731"/>
                </a:solidFill>
                <a:latin typeface="Trebuchet MS"/>
              </a:rPr>
              <a:t>LESSON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64008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Trebuchet MS"/>
              </a:rPr>
              <a:t>Your Brain on
Behavioral Health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04288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8A8FA8"/>
                </a:solidFill>
                <a:latin typeface="Trebuchet MS"/>
              </a:rPr>
              <a:t>Neuroscience — made simple and interesting.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926080"/>
            <a:ext cx="7498079" cy="457200"/>
          </a:xfrm>
          <a:prstGeom prst="rect">
            <a:avLst/>
          </a:prstGeom>
          <a:solidFill>
            <a:srgbClr val="503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FFFFFF"/>
                </a:solidFill>
                <a:latin typeface="Trebuchet MS"/>
              </a:rPr>
              <a:t>🧠  86 billion neurons firing in your brain right now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456432"/>
            <a:ext cx="7498079" cy="457200"/>
          </a:xfrm>
          <a:prstGeom prst="rect">
            <a:avLst/>
          </a:prstGeom>
          <a:solidFill>
            <a:srgbClr val="503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45643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FFFFFF"/>
                </a:solidFill>
                <a:latin typeface="Trebuchet MS"/>
              </a:rPr>
              <a:t>🔗  100 trillion connections between them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986784"/>
            <a:ext cx="7498079" cy="457200"/>
          </a:xfrm>
          <a:prstGeom prst="rect">
            <a:avLst/>
          </a:prstGeom>
          <a:solidFill>
            <a:srgbClr val="503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986784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FFFFFF"/>
                </a:solidFill>
                <a:latin typeface="Trebuchet MS"/>
              </a:rPr>
              <a:t>🤖  40–45% of your day is pure autopilot habit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6C4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8412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6C4FD4"/>
                </a:solidFill>
                <a:latin typeface="Trebuchet MS"/>
              </a:rPr>
              <a:t>HOW YOUR BRAIN ACTUALLY COMMUNICATES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B2A4A"/>
                </a:solidFill>
                <a:latin typeface="Trebuchet MS"/>
              </a:rPr>
              <a:t>Neurons, Synapses &amp; Neurotransmitters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98448"/>
            <a:ext cx="8412480" cy="777240"/>
          </a:xfrm>
          <a:prstGeom prst="rect">
            <a:avLst/>
          </a:prstGeom>
          <a:solidFill>
            <a:srgbClr val="F4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640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Trebuchet MS"/>
              </a:rPr>
              <a:t>1️⃣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98448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6C4FD4"/>
                </a:solidFill>
                <a:latin typeface="Trebuchet MS"/>
              </a:rPr>
              <a:t>Action potential fires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1298448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1B2A4A"/>
                </a:solidFill>
                <a:latin typeface="Trebuchet MS"/>
              </a:rPr>
              <a:t>Electrical signal travels down the neuron like a spark along a wire.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76272"/>
            <a:ext cx="84124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76272"/>
            <a:ext cx="640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Trebuchet MS"/>
              </a:rPr>
              <a:t>2️⃣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176272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6C4FD4"/>
                </a:solidFill>
                <a:latin typeface="Trebuchet MS"/>
              </a:rPr>
              <a:t>Neurotransmitters released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2176272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1B2A4A"/>
                </a:solidFill>
                <a:latin typeface="Trebuchet MS"/>
              </a:rPr>
              <a:t>Chemical messengers flood into the synapse (the gap between neurons).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054096"/>
            <a:ext cx="8412480" cy="777240"/>
          </a:xfrm>
          <a:prstGeom prst="rect">
            <a:avLst/>
          </a:prstGeom>
          <a:solidFill>
            <a:srgbClr val="F4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054096"/>
            <a:ext cx="640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Trebuchet MS"/>
              </a:rPr>
              <a:t>3️⃣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054096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6C4FD4"/>
                </a:solidFill>
                <a:latin typeface="Trebuchet MS"/>
              </a:rPr>
              <a:t>Receptors bind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39" y="3054096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1B2A4A"/>
                </a:solidFill>
                <a:latin typeface="Trebuchet MS"/>
              </a:rPr>
              <a:t>Chemicals attach to the next neuron — exciting OR inhibiting it.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931920"/>
            <a:ext cx="84124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931920"/>
            <a:ext cx="640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Trebuchet MS"/>
              </a:rPr>
              <a:t>4️⃣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93192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6C4FD4"/>
                </a:solidFill>
                <a:latin typeface="Trebuchet MS"/>
              </a:rPr>
              <a:t>Reuptake or breakdown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7639" y="3931920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1B2A4A"/>
                </a:solidFill>
                <a:latin typeface="Trebuchet MS"/>
              </a:rPr>
              <a:t>Leftover chemicals are recycled. Most meds work right here!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solidFill>
            <a:srgbClr val="F4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4828032"/>
            <a:ext cx="841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C4FD4"/>
                </a:solidFill>
                <a:latin typeface="Trebuchet MS"/>
              </a:rPr>
              <a:t>💡  Medications work by tweaking this system — blocking reuptake, mimicking chemicals, or boosting production.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0"/>
            <a:ext cx="8595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Trebuchet MS"/>
              </a:rPr>
              <a:t>THE 5 BRAIN CHEMICALS YOU ABSOLUTELY NEED TO KNOW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69264"/>
            <a:ext cx="8595360" cy="713232"/>
          </a:xfrm>
          <a:prstGeom prst="rect">
            <a:avLst/>
          </a:prstGeom>
          <a:solidFill>
            <a:srgbClr val="F4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69264"/>
            <a:ext cx="65836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Trebuchet MS"/>
              </a:rPr>
              <a:t>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969264"/>
            <a:ext cx="2011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6C4FD4"/>
                </a:solidFill>
                <a:latin typeface="Trebuchet MS"/>
              </a:rPr>
              <a:t>Dopamine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969264"/>
            <a:ext cx="26517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1B2A4A"/>
                </a:solidFill>
                <a:latin typeface="Trebuchet MS"/>
              </a:rPr>
              <a:t>Reward &amp; motivation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969264"/>
            <a:ext cx="3063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8A8FA8"/>
                </a:solidFill>
                <a:latin typeface="Trebuchet MS"/>
              </a:rPr>
              <a:t>→  Spikes with ALL addictive substances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773936"/>
            <a:ext cx="8595360" cy="713232"/>
          </a:xfrm>
          <a:prstGeom prst="rect">
            <a:avLst/>
          </a:prstGeom>
          <a:solidFill>
            <a:srgbClr val="E8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773936"/>
            <a:ext cx="65836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Trebuchet MS"/>
              </a:rPr>
              <a:t>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1773936"/>
            <a:ext cx="2011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0B4A6"/>
                </a:solidFill>
                <a:latin typeface="Trebuchet MS"/>
              </a:rPr>
              <a:t>Serotonin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1773936"/>
            <a:ext cx="26517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1B2A4A"/>
                </a:solidFill>
                <a:latin typeface="Trebuchet MS"/>
              </a:rPr>
              <a:t>Mood, sleep, appetite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1773936"/>
            <a:ext cx="3063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8A8FA8"/>
                </a:solidFill>
                <a:latin typeface="Trebuchet MS"/>
              </a:rPr>
              <a:t>→  SSRIs keep more of this in your synapse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578608"/>
            <a:ext cx="8595360" cy="713232"/>
          </a:xfrm>
          <a:prstGeom prst="rect">
            <a:avLst/>
          </a:prstGeom>
          <a:solidFill>
            <a:srgbClr val="FFF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578608"/>
            <a:ext cx="65836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Trebuchet MS"/>
              </a:rPr>
              <a:t>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2578608"/>
            <a:ext cx="2011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F7B731"/>
                </a:solidFill>
                <a:latin typeface="Trebuchet MS"/>
              </a:rPr>
              <a:t>Norepinephrine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2578608"/>
            <a:ext cx="26517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1B2A4A"/>
                </a:solidFill>
                <a:latin typeface="Trebuchet MS"/>
              </a:rPr>
              <a:t>Alertness &amp; stress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80" y="2578608"/>
            <a:ext cx="3063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8A8FA8"/>
                </a:solidFill>
                <a:latin typeface="Trebuchet MS"/>
              </a:rPr>
              <a:t>→  Dysregulated in PTSD and panic disorder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383280"/>
            <a:ext cx="8595360" cy="713232"/>
          </a:xfrm>
          <a:prstGeom prst="rect">
            <a:avLst/>
          </a:prstGeom>
          <a:solidFill>
            <a:srgbClr val="EAF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383280"/>
            <a:ext cx="65836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Trebuchet MS"/>
              </a:rPr>
              <a:t>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" y="3383280"/>
            <a:ext cx="2011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27AE60"/>
                </a:solidFill>
                <a:latin typeface="Trebuchet MS"/>
              </a:rPr>
              <a:t>GABA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54680" y="3383280"/>
            <a:ext cx="26517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1B2A4A"/>
                </a:solidFill>
                <a:latin typeface="Trebuchet MS"/>
              </a:rPr>
              <a:t>Calm — brain's brake pedal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97880" y="3383280"/>
            <a:ext cx="3063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8A8FA8"/>
                </a:solidFill>
                <a:latin typeface="Trebuchet MS"/>
              </a:rPr>
              <a:t>→  Benzodiazepines enhance this for anxiety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187952"/>
            <a:ext cx="8595360" cy="713232"/>
          </a:xfrm>
          <a:prstGeom prst="rect">
            <a:avLst/>
          </a:prstGeom>
          <a:solidFill>
            <a:srgbClr val="FE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4187952"/>
            <a:ext cx="65836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Trebuchet MS"/>
              </a:rPr>
              <a:t>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" y="4187952"/>
            <a:ext cx="2011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E74C3C"/>
                </a:solidFill>
                <a:latin typeface="Trebuchet MS"/>
              </a:rPr>
              <a:t>Glutamate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54680" y="4187952"/>
            <a:ext cx="26517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1B2A4A"/>
                </a:solidFill>
                <a:latin typeface="Trebuchet MS"/>
              </a:rPr>
              <a:t>Learning &amp; memory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97880" y="4187952"/>
            <a:ext cx="3063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8A8FA8"/>
                </a:solidFill>
                <a:latin typeface="Trebuchet MS"/>
              </a:rPr>
              <a:t>→  Primary excitatory system in the brain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C4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Trebuchet MS"/>
              </a:rPr>
              <a:t>5 BRAIN REGIONS THAT RUN YOUR BEHAVIORAL HEALTH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4206240" cy="1170432"/>
          </a:xfrm>
          <a:prstGeom prst="rect">
            <a:avLst/>
          </a:prstGeom>
          <a:solidFill>
            <a:srgbClr val="F4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1078992"/>
            <a:ext cx="65836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Trebuchet MS"/>
              </a:rPr>
              <a:t>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07899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6C4FD4"/>
                </a:solidFill>
                <a:latin typeface="Trebuchet MS"/>
              </a:rPr>
              <a:t>Prefrontal Cortex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40817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F05A5B"/>
                </a:solidFill>
                <a:latin typeface="Trebuchet MS"/>
              </a:rPr>
              <a:t>Your CEO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64592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8A8FA8"/>
                </a:solidFill>
                <a:latin typeface="Trebuchet MS"/>
              </a:rPr>
              <a:t>Decision-making &amp; impulse control. Not fully mature until mid-20s!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331720"/>
            <a:ext cx="4206240" cy="1170432"/>
          </a:xfrm>
          <a:prstGeom prst="rect">
            <a:avLst/>
          </a:prstGeom>
          <a:solidFill>
            <a:srgbClr val="F4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2404872"/>
            <a:ext cx="65836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Trebuchet MS"/>
              </a:rPr>
              <a:t>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40487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6C4FD4"/>
                </a:solidFill>
                <a:latin typeface="Trebuchet MS"/>
              </a:rPr>
              <a:t>Amygdala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73405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F05A5B"/>
                </a:solidFill>
                <a:latin typeface="Trebuchet MS"/>
              </a:rPr>
              <a:t>Your alarm bell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97180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8A8FA8"/>
                </a:solidFill>
                <a:latin typeface="Trebuchet MS"/>
              </a:rPr>
              <a:t>Fires at any threat — real or imagined. Hyperactive in PTSD &amp; anxiety.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657600"/>
            <a:ext cx="4206240" cy="1170432"/>
          </a:xfrm>
          <a:prstGeom prst="rect">
            <a:avLst/>
          </a:prstGeom>
          <a:solidFill>
            <a:srgbClr val="F4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" y="3730752"/>
            <a:ext cx="65836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Trebuchet MS"/>
              </a:rPr>
              <a:t>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73075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6C4FD4"/>
                </a:solidFill>
                <a:latin typeface="Trebuchet MS"/>
              </a:rPr>
              <a:t>Hippocampus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05993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F05A5B"/>
                </a:solidFill>
                <a:latin typeface="Trebuchet MS"/>
              </a:rPr>
              <a:t>Your librarian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29768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8A8FA8"/>
                </a:solidFill>
                <a:latin typeface="Trebuchet MS"/>
              </a:rPr>
              <a:t>Stores memories &amp; context. Shrinks under chronic stress.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92040" y="1005840"/>
            <a:ext cx="4206240" cy="1170432"/>
          </a:xfrm>
          <a:prstGeom prst="rect">
            <a:avLst/>
          </a:prstGeom>
          <a:solidFill>
            <a:srgbClr val="F4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65192" y="1078992"/>
            <a:ext cx="65836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Trebuchet MS"/>
              </a:rPr>
              <a:t>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79" y="107899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6C4FD4"/>
                </a:solidFill>
                <a:latin typeface="Trebuchet MS"/>
              </a:rPr>
              <a:t>Nucleus Accumbens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79" y="140817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F05A5B"/>
                </a:solidFill>
                <a:latin typeface="Trebuchet MS"/>
              </a:rPr>
              <a:t>Your reward circuit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79" y="164592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8A8FA8"/>
                </a:solidFill>
                <a:latin typeface="Trebuchet MS"/>
              </a:rPr>
              <a:t>Dopamine central. Goes 'dark' in depression — causing anhedonia.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92040" y="2331720"/>
            <a:ext cx="4206240" cy="1170432"/>
          </a:xfrm>
          <a:prstGeom prst="rect">
            <a:avLst/>
          </a:prstGeom>
          <a:solidFill>
            <a:srgbClr val="F4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65192" y="2404872"/>
            <a:ext cx="65836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Trebuchet MS"/>
              </a:rPr>
              <a:t>🕹️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79" y="240487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6C4FD4"/>
                </a:solidFill>
                <a:latin typeface="Trebuchet MS"/>
              </a:rPr>
              <a:t>Hypothalamus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79" y="273405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F05A5B"/>
                </a:solidFill>
                <a:latin typeface="Trebuchet MS"/>
              </a:rPr>
              <a:t>Your hormonal HQ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79" y="297180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8A8FA8"/>
                </a:solidFill>
                <a:latin typeface="Trebuchet MS"/>
              </a:rPr>
              <a:t>Launches the cortisol stress cascade when it senses danger.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-731520"/>
            <a:ext cx="4572000" cy="4572000"/>
          </a:xfrm>
          <a:prstGeom prst="ellipse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F05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7B731"/>
                </a:solidFill>
                <a:latin typeface="Trebuchet MS"/>
              </a:rPr>
              <a:t>NEUROPLASTICITY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"/>
            <a:ext cx="8229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Trebuchet MS"/>
              </a:rPr>
              <a:t>Your brain can rewire itself at ANY age. 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8988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F7B731"/>
                </a:solidFill>
                <a:latin typeface="Trebuchet MS"/>
              </a:rPr>
              <a:t>"Neurons that fire together, wire together."  — Hebb's Rule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29968"/>
            <a:ext cx="8229600" cy="566928"/>
          </a:xfrm>
          <a:prstGeom prst="rect">
            <a:avLst/>
          </a:prstGeom>
          <a:solidFill>
            <a:srgbClr val="503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29968"/>
            <a:ext cx="7863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FFFFFF"/>
                </a:solidFill>
                <a:latin typeface="Trebuchet MS"/>
              </a:rPr>
              <a:t>💬  Therapy rewires fear responses — CBT literally changes amygdala activity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88336"/>
            <a:ext cx="8229600" cy="566928"/>
          </a:xfrm>
          <a:prstGeom prst="rect">
            <a:avLst/>
          </a:prstGeom>
          <a:solidFill>
            <a:srgbClr val="503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688336"/>
            <a:ext cx="7863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FFFFFF"/>
                </a:solidFill>
                <a:latin typeface="Trebuchet MS"/>
              </a:rPr>
              <a:t>🔄  Recovery builds NEW competing neural pathways to replace old habits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346704"/>
            <a:ext cx="8229600" cy="566928"/>
          </a:xfrm>
          <a:prstGeom prst="rect">
            <a:avLst/>
          </a:prstGeom>
          <a:solidFill>
            <a:srgbClr val="503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346704"/>
            <a:ext cx="7863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FFFFFF"/>
                </a:solidFill>
                <a:latin typeface="Trebuchet MS"/>
              </a:rPr>
              <a:t>🧘  Mindfulness strengthens PFC control over the amygdala — with practice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05072"/>
            <a:ext cx="8229600" cy="566928"/>
          </a:xfrm>
          <a:prstGeom prst="rect">
            <a:avLst/>
          </a:prstGeom>
          <a:solidFill>
            <a:srgbClr val="503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05072"/>
            <a:ext cx="7863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FFFFFF"/>
                </a:solidFill>
                <a:latin typeface="Trebuchet MS"/>
              </a:rPr>
              <a:t>🏋️  New habits get easier every time — you're literally growing new neurons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05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8412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F05A5B"/>
                </a:solidFill>
                <a:latin typeface="Trebuchet MS"/>
              </a:rPr>
              <a:t>THE STRESS RESPONSE &amp; HPA AXIS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1B2A4A"/>
                </a:solidFill>
                <a:latin typeface="Trebuchet MS"/>
              </a:rPr>
              <a:t>Why chronic stress is slowly wrecking your health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61872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6C4FD4"/>
                </a:solidFill>
                <a:latin typeface="Trebuchet MS"/>
              </a:rPr>
              <a:t>🏔️  Hypothalamus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82495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8A8FA8"/>
                </a:solidFill>
                <a:latin typeface="Trebuchet MS"/>
              </a:rPr>
              <a:t>   ↓  releases CRH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0312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6C4FD4"/>
                </a:solidFill>
                <a:latin typeface="Trebuchet MS"/>
              </a:rPr>
              <a:t>🫘  Pituitary gland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523744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8A8FA8"/>
                </a:solidFill>
                <a:latin typeface="Trebuchet MS"/>
              </a:rPr>
              <a:t>   ↓  releases ACTH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944368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6C4FD4"/>
                </a:solidFill>
                <a:latin typeface="Trebuchet MS"/>
              </a:rPr>
              <a:t>⚡  Adrenal glands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364992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8A8FA8"/>
                </a:solidFill>
                <a:latin typeface="Trebuchet MS"/>
              </a:rPr>
              <a:t>   ↓  releases 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785616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05A5B"/>
                </a:solidFill>
                <a:latin typeface="Trebuchet MS"/>
              </a:rPr>
              <a:t>💥  CORTISOL!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29000" y="1207008"/>
            <a:ext cx="5394960" cy="3474720"/>
          </a:xfrm>
          <a:prstGeom prst="rect">
            <a:avLst/>
          </a:prstGeom>
          <a:solidFill>
            <a:srgbClr val="FF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26187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05A5B"/>
                </a:solidFill>
                <a:latin typeface="Trebuchet MS"/>
              </a:rPr>
              <a:t>😬  What chronic cortisol does to you: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1737360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1B2A4A"/>
                </a:solidFill>
                <a:latin typeface="Trebuchet MS"/>
              </a:rPr>
              <a:t>🧩  Hippocampus shrinks → memory &amp; context impaired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267712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1B2A4A"/>
                </a:solidFill>
                <a:latin typeface="Trebuchet MS"/>
              </a:rPr>
              <a:t>🚨  Amygdala stuck ON → constant anxiety &amp; hair-trigger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798063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1B2A4A"/>
                </a:solidFill>
                <a:latin typeface="Trebuchet MS"/>
              </a:rPr>
              <a:t>🛡️  Immune system tanks → more illness &amp; inflammation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3328415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1B2A4A"/>
                </a:solidFill>
                <a:latin typeface="Trebuchet MS"/>
              </a:rPr>
              <a:t>🧭  PFC degrades → poor decisions, less impulse control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3858768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1B2A4A"/>
                </a:solidFill>
                <a:latin typeface="Trebuchet MS"/>
              </a:rPr>
              <a:t>😞  Serotonin &amp; dopamine drop → depression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rebuchet MS"/>
              </a:rPr>
              <a:t>🌿  The fix: Exercise · Sleep · Mindfulness · Social connection · Therapy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43200" y="274320"/>
            <a:ext cx="4114800" cy="4114800"/>
          </a:xfrm>
          <a:prstGeom prst="ellipse">
            <a:avLst/>
          </a:prstGeom>
          <a:solidFill>
            <a:srgbClr val="6C4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7B731"/>
                </a:solidFill>
                <a:latin typeface="Trebuchet MS"/>
              </a:rPr>
              <a:t>🎓  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41248"/>
            <a:ext cx="594360" cy="749808"/>
          </a:xfrm>
          <a:prstGeom prst="rect">
            <a:avLst/>
          </a:prstGeom>
          <a:solidFill>
            <a:srgbClr val="6C4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41248"/>
            <a:ext cx="5943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Trebuchet MS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841248"/>
            <a:ext cx="7772400" cy="749808"/>
          </a:xfrm>
          <a:prstGeom prst="rect">
            <a:avLst/>
          </a:prstGeom>
          <a:solidFill>
            <a:srgbClr val="F4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841248"/>
            <a:ext cx="75895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1B2A4A"/>
                </a:solidFill>
                <a:latin typeface="Trebuchet MS"/>
              </a:rPr>
              <a:t>Behavioral health is BIGGER than mental health — habits, emotions &amp; all behaviors that affect wellbeing.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755648"/>
            <a:ext cx="594360" cy="749808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755648"/>
            <a:ext cx="5943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Trebuchet MS"/>
              </a:rPr>
              <a:t>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1755648"/>
            <a:ext cx="7772400" cy="749808"/>
          </a:xfrm>
          <a:prstGeom prst="rect">
            <a:avLst/>
          </a:prstGeom>
          <a:solidFill>
            <a:srgbClr val="F4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1755648"/>
            <a:ext cx="75895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1B2A4A"/>
                </a:solidFill>
                <a:latin typeface="Trebuchet MS"/>
              </a:rPr>
              <a:t>Neuroplasticity means your brain can rewire at any age — therapy, habits &amp; exercise literally grow new pathways.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670048"/>
            <a:ext cx="594360" cy="749808"/>
          </a:xfrm>
          <a:prstGeom prst="rect">
            <a:avLst/>
          </a:prstGeom>
          <a:solidFill>
            <a:srgbClr val="F05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670048"/>
            <a:ext cx="5943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Trebuchet MS"/>
              </a:rPr>
              <a:t>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2670048"/>
            <a:ext cx="7772400" cy="749808"/>
          </a:xfrm>
          <a:prstGeom prst="rect">
            <a:avLst/>
          </a:prstGeom>
          <a:solidFill>
            <a:srgbClr val="F4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2670048"/>
            <a:ext cx="75895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1B2A4A"/>
                </a:solidFill>
                <a:latin typeface="Trebuchet MS"/>
              </a:rPr>
              <a:t>Dopamine, serotonin, GABA &amp; friends drive behavior — changed by meds AND lifestyle choices.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584448"/>
            <a:ext cx="594360" cy="749808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584448"/>
            <a:ext cx="5943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Trebuchet MS"/>
              </a:rPr>
              <a:t>04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0" y="3584448"/>
            <a:ext cx="7772400" cy="749808"/>
          </a:xfrm>
          <a:prstGeom prst="rect">
            <a:avLst/>
          </a:prstGeom>
          <a:solidFill>
            <a:srgbClr val="F4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3584448"/>
            <a:ext cx="75895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1B2A4A"/>
                </a:solidFill>
                <a:latin typeface="Trebuchet MS"/>
              </a:rPr>
              <a:t>Chronic stress (cortisol) shrinks your hippocampus &amp; hijacks your amygdala. Sleep &amp; exercise are medicine.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617720"/>
            <a:ext cx="8412480" cy="365760"/>
          </a:xfrm>
          <a:prstGeom prst="rect">
            <a:avLst/>
          </a:prstGeom>
          <a:solidFill>
            <a:srgbClr val="F05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61772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rebuchet MS"/>
              </a:rPr>
              <a:t>🎙️  Share this episode with someone who needs to understand their brain a little better!  🧠✨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